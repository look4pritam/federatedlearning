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2"/>
  </p:notesMasterIdLst>
  <p:sldIdLst>
    <p:sldId id="256" r:id="rId2"/>
    <p:sldId id="268" r:id="rId3"/>
    <p:sldId id="272" r:id="rId4"/>
    <p:sldId id="278" r:id="rId5"/>
    <p:sldId id="279" r:id="rId6"/>
    <p:sldId id="280" r:id="rId7"/>
    <p:sldId id="281" r:id="rId8"/>
    <p:sldId id="282" r:id="rId9"/>
    <p:sldId id="283" r:id="rId10"/>
    <p:sldId id="276" r:id="rId11"/>
    <p:sldId id="284" r:id="rId12"/>
    <p:sldId id="285" r:id="rId13"/>
    <p:sldId id="286" r:id="rId14"/>
    <p:sldId id="287" r:id="rId15"/>
    <p:sldId id="288" r:id="rId16"/>
    <p:sldId id="289" r:id="rId17"/>
    <p:sldId id="290" r:id="rId18"/>
    <p:sldId id="274" r:id="rId19"/>
    <p:sldId id="275" r:id="rId20"/>
    <p:sldId id="269" r:id="rId21"/>
  </p:sldIdLst>
  <p:sldSz cx="9144000" cy="6858000" type="screen4x3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0000"/>
    <a:srgbClr val="0000FF"/>
    <a:srgbClr val="00FF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D7AC3CCA-C797-4891-BE02-D94E43425B78}" styleName="Medium Style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69CF1AB2-1976-4502-BF36-3FF5EA218861}" styleName="Medium Style 4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0505E3EF-67EA-436B-97B2-0124C06EBD24}" styleName="Medium Style 4 - Accent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3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3">
              <a:tint val="20000"/>
            </a:schemeClr>
          </a:solidFill>
        </a:fill>
      </a:tcStyle>
    </a:firstRow>
  </a:tblStyle>
  <a:tblStyle styleId="{8A107856-5554-42FB-B03E-39F5DBC370BA}" styleName="Medium Style 4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2"/>
              </a:solidFill>
            </a:ln>
          </a:top>
        </a:tcBdr>
        <a:fill>
          <a:solidFill>
            <a:schemeClr val="accent2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2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>
      <p:cViewPr varScale="1">
        <p:scale>
          <a:sx n="105" d="100"/>
          <a:sy n="105" d="100"/>
        </p:scale>
        <p:origin x="1794" y="9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8BFDCCA-FFB9-49F6-B56E-F6432283D67C}" type="datetimeFigureOut">
              <a:rPr lang="en-US" smtClean="0"/>
              <a:pPr/>
              <a:t>4/15/2026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0FEC5B1-3194-4B6A-BAEE-39D412112D05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99FEDA-6AC3-495C-A467-2B0399D71BB7}" type="datetimeFigureOut">
              <a:rPr lang="en-US" smtClean="0"/>
              <a:pPr/>
              <a:t>4/15/2026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7321A9-B3E8-4DA2-B6B5-03B18401B625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99FEDA-6AC3-495C-A467-2B0399D71BB7}" type="datetimeFigureOut">
              <a:rPr lang="en-US" smtClean="0"/>
              <a:pPr/>
              <a:t>4/15/2026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7321A9-B3E8-4DA2-B6B5-03B18401B625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99FEDA-6AC3-495C-A467-2B0399D71BB7}" type="datetimeFigureOut">
              <a:rPr lang="en-US" smtClean="0"/>
              <a:pPr/>
              <a:t>4/15/2026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7321A9-B3E8-4DA2-B6B5-03B18401B625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99FEDA-6AC3-495C-A467-2B0399D71BB7}" type="datetimeFigureOut">
              <a:rPr lang="en-US" smtClean="0"/>
              <a:pPr/>
              <a:t>4/15/2026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7321A9-B3E8-4DA2-B6B5-03B18401B625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99FEDA-6AC3-495C-A467-2B0399D71BB7}" type="datetimeFigureOut">
              <a:rPr lang="en-US" smtClean="0"/>
              <a:pPr/>
              <a:t>4/15/2026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7321A9-B3E8-4DA2-B6B5-03B18401B625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99FEDA-6AC3-495C-A467-2B0399D71BB7}" type="datetimeFigureOut">
              <a:rPr lang="en-US" smtClean="0"/>
              <a:pPr/>
              <a:t>4/15/2026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7321A9-B3E8-4DA2-B6B5-03B18401B625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99FEDA-6AC3-495C-A467-2B0399D71BB7}" type="datetimeFigureOut">
              <a:rPr lang="en-US" smtClean="0"/>
              <a:pPr/>
              <a:t>4/15/2026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7321A9-B3E8-4DA2-B6B5-03B18401B625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99FEDA-6AC3-495C-A467-2B0399D71BB7}" type="datetimeFigureOut">
              <a:rPr lang="en-US" smtClean="0"/>
              <a:pPr/>
              <a:t>4/15/2026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7321A9-B3E8-4DA2-B6B5-03B18401B625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99FEDA-6AC3-495C-A467-2B0399D71BB7}" type="datetimeFigureOut">
              <a:rPr lang="en-US" smtClean="0"/>
              <a:pPr/>
              <a:t>4/15/2026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7321A9-B3E8-4DA2-B6B5-03B18401B625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99FEDA-6AC3-495C-A467-2B0399D71BB7}" type="datetimeFigureOut">
              <a:rPr lang="en-US" smtClean="0"/>
              <a:pPr/>
              <a:t>4/15/2026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7321A9-B3E8-4DA2-B6B5-03B18401B625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99FEDA-6AC3-495C-A467-2B0399D71BB7}" type="datetimeFigureOut">
              <a:rPr lang="en-US" smtClean="0"/>
              <a:pPr/>
              <a:t>4/15/2026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7321A9-B3E8-4DA2-B6B5-03B18401B625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099FEDA-6AC3-495C-A467-2B0399D71BB7}" type="datetimeFigureOut">
              <a:rPr lang="en-US" smtClean="0"/>
              <a:pPr/>
              <a:t>4/15/2026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07321A9-B3E8-4DA2-B6B5-03B18401B625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Federated Learning</a:t>
            </a:r>
          </a:p>
        </p:txBody>
      </p:sp>
      <p:sp>
        <p:nvSpPr>
          <p:cNvPr id="6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>
            <a:normAutofit fontScale="92500"/>
          </a:bodyPr>
          <a:lstStyle/>
          <a:p>
            <a:r>
              <a:rPr lang="en-US" dirty="0"/>
              <a:t>Pritam Prakash Shete</a:t>
            </a:r>
          </a:p>
          <a:p>
            <a:r>
              <a:rPr lang="en-US" dirty="0"/>
              <a:t>Computer Division, BARC </a:t>
            </a:r>
          </a:p>
          <a:p>
            <a:r>
              <a:rPr lang="en-IN" dirty="0"/>
              <a:t>Centre for Excellence in Basic Sciences</a:t>
            </a:r>
            <a:endParaRPr lang="en-US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Topics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Traditional Machine Learning</a:t>
            </a:r>
          </a:p>
          <a:p>
            <a:r>
              <a:rPr lang="en-US" dirty="0"/>
              <a:t>Federated Learning</a:t>
            </a:r>
          </a:p>
          <a:p>
            <a:r>
              <a:rPr lang="en-US" dirty="0"/>
              <a:t>Types of Federated Learning</a:t>
            </a:r>
          </a:p>
          <a:p>
            <a:r>
              <a:rPr lang="en-US" dirty="0"/>
              <a:t>Advantages </a:t>
            </a:r>
          </a:p>
          <a:p>
            <a:r>
              <a:rPr lang="en-US" dirty="0"/>
              <a:t>Disadvantages</a:t>
            </a:r>
          </a:p>
          <a:p>
            <a:endParaRPr lang="en-US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Traditional Machine Learning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Relies on large datasets stored in centralized locations (data centers)</a:t>
            </a:r>
          </a:p>
          <a:p>
            <a:r>
              <a:rPr lang="en-US" dirty="0"/>
              <a:t>Focuses on achieving accurate predictions and generating insights </a:t>
            </a:r>
          </a:p>
          <a:p>
            <a:endParaRPr lang="en-US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Challenges in Traditional ML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Data Storage Issues</a:t>
            </a:r>
          </a:p>
          <a:p>
            <a:pPr lvl="1"/>
            <a:r>
              <a:rPr lang="en-US" dirty="0"/>
              <a:t>Handling massive volumes of data is difficult</a:t>
            </a:r>
          </a:p>
          <a:p>
            <a:r>
              <a:rPr lang="en-US" dirty="0"/>
              <a:t>Privacy Concerns</a:t>
            </a:r>
          </a:p>
          <a:p>
            <a:pPr lvl="1"/>
            <a:r>
              <a:rPr lang="en-US" dirty="0"/>
              <a:t>Centralized storage increases risk of data breaches</a:t>
            </a:r>
          </a:p>
          <a:p>
            <a:r>
              <a:rPr lang="en-US" dirty="0"/>
              <a:t>Processing Overhead</a:t>
            </a:r>
          </a:p>
          <a:p>
            <a:pPr lvl="1"/>
            <a:r>
              <a:rPr lang="en-US" dirty="0"/>
              <a:t>High data transfer, computation cost, and latency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7331418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Emergence of Federated Learning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 modern approach to machine learning</a:t>
            </a:r>
          </a:p>
          <a:p>
            <a:r>
              <a:rPr lang="en-US" dirty="0"/>
              <a:t>Enables decentralized training across multiple devices</a:t>
            </a:r>
          </a:p>
          <a:p>
            <a:r>
              <a:rPr lang="en-US" dirty="0"/>
              <a:t>Keeps data on local devices instead of sharing it centrally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071656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Why Federated Learning Matters?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Improves data privacy and security</a:t>
            </a:r>
          </a:p>
          <a:p>
            <a:r>
              <a:rPr lang="en-US" dirty="0"/>
              <a:t>Reduces need for large scale data transfer</a:t>
            </a:r>
          </a:p>
          <a:p>
            <a:r>
              <a:rPr lang="en-US" dirty="0"/>
              <a:t>Offers scalable and efficient learning across distributed systems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9816726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Traditional ML v/s Federated Learning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Traditional Machine Learning faces limitations in privacy, storage, and efficiency</a:t>
            </a:r>
          </a:p>
          <a:p>
            <a:r>
              <a:rPr lang="en-US" dirty="0"/>
              <a:t>Federated Learning provides a powerful and innovative solution</a:t>
            </a:r>
          </a:p>
          <a:p>
            <a:r>
              <a:rPr lang="en-US" dirty="0"/>
              <a:t>Represents a significant shift toward privacy preserving AI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9140742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What is Federated Learning?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Federated Learning is a machine learning technique</a:t>
            </a:r>
          </a:p>
          <a:p>
            <a:r>
              <a:rPr lang="en-US" dirty="0"/>
              <a:t>Trains models on decentralized data</a:t>
            </a:r>
          </a:p>
          <a:p>
            <a:r>
              <a:rPr lang="en-US" dirty="0"/>
              <a:t>Data is distributed across multiple devices or nodes</a:t>
            </a:r>
          </a:p>
          <a:p>
            <a:r>
              <a:rPr lang="en-US" dirty="0"/>
              <a:t>Devices include smartphones, IoT devices, and edge devices</a:t>
            </a:r>
          </a:p>
          <a:p>
            <a:r>
              <a:rPr lang="en-US" dirty="0"/>
              <a:t>Data remains on local devices (not centralized)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6933038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How Federated Learning Works?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pPr marL="514350" indent="-514350">
              <a:buFont typeface="+mj-lt"/>
              <a:buAutoNum type="arabicPeriod"/>
            </a:pPr>
            <a:r>
              <a:rPr lang="en-US" dirty="0"/>
              <a:t>Model is sent to multiple devices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Each device trains the model locally using its own data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Local model updates (not raw data) are generated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Updates are sent to a central server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Server aggregates updates from multiple devices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A global model is updated and redistributed</a:t>
            </a:r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2122540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Box 10"/>
          <p:cNvSpPr txBox="1">
            <a:spLocks noChangeArrowheads="1"/>
          </p:cNvSpPr>
          <p:nvPr/>
        </p:nvSpPr>
        <p:spPr bwMode="auto">
          <a:xfrm rot="10800000" flipV="1">
            <a:off x="0" y="6519446"/>
            <a:ext cx="1828800" cy="33855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>
              <a:spcBef>
                <a:spcPct val="50000"/>
              </a:spcBef>
            </a:pPr>
            <a:r>
              <a:rPr lang="en-US" sz="1600" b="1" dirty="0">
                <a:solidFill>
                  <a:srgbClr val="FF0000"/>
                </a:solidFill>
              </a:rPr>
              <a:t>Image </a:t>
            </a:r>
            <a:r>
              <a:rPr lang="en-US" sz="1600" b="1" dirty="0" err="1">
                <a:solidFill>
                  <a:srgbClr val="FF0000"/>
                </a:solidFill>
              </a:rPr>
              <a:t>ack</a:t>
            </a:r>
            <a:r>
              <a:rPr lang="en-US" sz="1600" b="1" dirty="0">
                <a:solidFill>
                  <a:srgbClr val="FF0000"/>
                </a:solidFill>
              </a:rPr>
              <a:t> – Google</a:t>
            </a:r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10AC75BB-CF7F-F667-BD1E-4CC17BF98D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>
            <a:normAutofit/>
          </a:bodyPr>
          <a:lstStyle/>
          <a:p>
            <a:r>
              <a:rPr lang="en-US" dirty="0"/>
              <a:t>How Federated Learning Works?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9DAC0114-7596-7D44-400E-94C6D70B709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1530370"/>
            <a:ext cx="7467600" cy="4876343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How Federated Learning Works?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Data remains on local devices</a:t>
            </a:r>
          </a:p>
          <a:p>
            <a:r>
              <a:rPr lang="en-US" dirty="0"/>
              <a:t>Only model updates are shared</a:t>
            </a:r>
          </a:p>
          <a:p>
            <a:r>
              <a:rPr lang="en-US" dirty="0"/>
              <a:t>Enables collaborative learning without compromising data privacy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7326783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Types of Federated Learning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Federated Learning can be implemented using different strategies</a:t>
            </a:r>
          </a:p>
          <a:p>
            <a:r>
              <a:rPr lang="en-US" dirty="0"/>
              <a:t>These approaches vary based on system architecture and communication style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1948254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Types of Federated Learning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Centralized Federated Learning</a:t>
            </a:r>
          </a:p>
          <a:p>
            <a:r>
              <a:rPr lang="en-US" dirty="0"/>
              <a:t>Decentralized Federated Learning</a:t>
            </a:r>
          </a:p>
          <a:p>
            <a:r>
              <a:rPr lang="en-US" dirty="0"/>
              <a:t>Heterogeneous Federated Learning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9342783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Centralized Federated Learning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Uses a central server to manage the training process</a:t>
            </a:r>
          </a:p>
          <a:p>
            <a:r>
              <a:rPr lang="en-US" dirty="0"/>
              <a:t>Server responsibilities:</a:t>
            </a:r>
          </a:p>
          <a:p>
            <a:pPr lvl="1"/>
            <a:r>
              <a:rPr lang="en-US" dirty="0"/>
              <a:t>Select participating devices (nodes)</a:t>
            </a:r>
          </a:p>
          <a:p>
            <a:pPr lvl="1"/>
            <a:r>
              <a:rPr lang="en-US" dirty="0"/>
              <a:t>Aggregate model updates from all devices</a:t>
            </a:r>
          </a:p>
          <a:p>
            <a:pPr lvl="1"/>
            <a:r>
              <a:rPr lang="en-US" dirty="0"/>
              <a:t>All nodes send updates to the central server</a:t>
            </a:r>
          </a:p>
          <a:p>
            <a:r>
              <a:rPr lang="en-US" dirty="0"/>
              <a:t>Limitation:</a:t>
            </a:r>
          </a:p>
          <a:p>
            <a:pPr lvl="1"/>
            <a:r>
              <a:rPr lang="en-US" dirty="0"/>
              <a:t>Can become a bottleneck</a:t>
            </a:r>
          </a:p>
          <a:p>
            <a:pPr lvl="1"/>
            <a:r>
              <a:rPr lang="en-US" dirty="0"/>
              <a:t>Single point of failure</a:t>
            </a:r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71177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Decentralized Federated Learning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No central server involved</a:t>
            </a:r>
          </a:p>
          <a:p>
            <a:r>
              <a:rPr lang="en-US" dirty="0"/>
              <a:t>Devices (nodes) communicate and share updates among themselves</a:t>
            </a:r>
          </a:p>
          <a:p>
            <a:r>
              <a:rPr lang="en-US" dirty="0"/>
              <a:t>Eliminates single point of failure</a:t>
            </a:r>
          </a:p>
          <a:p>
            <a:r>
              <a:rPr lang="en-US" dirty="0"/>
              <a:t>Reduces bottleneck issues</a:t>
            </a:r>
          </a:p>
          <a:p>
            <a:r>
              <a:rPr lang="en-US" dirty="0"/>
              <a:t>Key consideration:</a:t>
            </a:r>
          </a:p>
          <a:p>
            <a:pPr lvl="1"/>
            <a:r>
              <a:rPr lang="en-US" dirty="0"/>
              <a:t>Performance depends on network topology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6256695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Heterogeneous Federated Learning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Involves diverse clients such as:</a:t>
            </a:r>
          </a:p>
          <a:p>
            <a:pPr lvl="1"/>
            <a:r>
              <a:rPr lang="en-US" dirty="0"/>
              <a:t>Smartphones</a:t>
            </a:r>
          </a:p>
          <a:p>
            <a:pPr lvl="1"/>
            <a:r>
              <a:rPr lang="en-US" dirty="0"/>
              <a:t>IoT devices</a:t>
            </a:r>
          </a:p>
          <a:p>
            <a:r>
              <a:rPr lang="en-US" dirty="0"/>
              <a:t>Devices differ in hardware and software capabilities</a:t>
            </a:r>
          </a:p>
          <a:p>
            <a:r>
              <a:rPr lang="en-US" dirty="0"/>
              <a:t>Challenges:</a:t>
            </a:r>
          </a:p>
          <a:p>
            <a:pPr lvl="1"/>
            <a:r>
              <a:rPr lang="en-US" dirty="0"/>
              <a:t>Varying computation power</a:t>
            </a:r>
          </a:p>
          <a:p>
            <a:pPr lvl="1"/>
            <a:r>
              <a:rPr lang="en-US" dirty="0"/>
              <a:t>Communication constraints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0753783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Types of Federated Learning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Different Federated Learning types address different system challenges</a:t>
            </a:r>
          </a:p>
          <a:p>
            <a:r>
              <a:rPr lang="en-US" dirty="0"/>
              <a:t>Centralized Federated Learning</a:t>
            </a:r>
          </a:p>
          <a:p>
            <a:pPr lvl="1"/>
            <a:r>
              <a:rPr lang="en-US" dirty="0"/>
              <a:t>Simpler but prone to bottlenecks</a:t>
            </a:r>
          </a:p>
          <a:p>
            <a:r>
              <a:rPr lang="en-US" dirty="0"/>
              <a:t>Decentralized Federated Learning</a:t>
            </a:r>
          </a:p>
          <a:p>
            <a:pPr lvl="1"/>
            <a:r>
              <a:rPr lang="en-US" dirty="0"/>
              <a:t>More robust but complex</a:t>
            </a:r>
          </a:p>
          <a:p>
            <a:r>
              <a:rPr lang="en-US" dirty="0"/>
              <a:t>Heterogeneous Federated Learning</a:t>
            </a:r>
          </a:p>
          <a:p>
            <a:pPr lvl="1"/>
            <a:r>
              <a:rPr lang="en-US" dirty="0"/>
              <a:t>Realistic but requires adaptive methods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404480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Advantages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Less over-fitting by using multiple trees</a:t>
            </a:r>
          </a:p>
          <a:p>
            <a:r>
              <a:rPr lang="en-IN" dirty="0"/>
              <a:t>More accurate as compared to single tree</a:t>
            </a:r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Disadvantages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Computationally expensive</a:t>
            </a:r>
          </a:p>
          <a:p>
            <a:r>
              <a:rPr lang="en-IN" dirty="0"/>
              <a:t>Less interpretable than decision tree</a:t>
            </a:r>
            <a:endParaRPr lang="en-US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Questions?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Thank you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2133</TotalTime>
  <Words>496</Words>
  <Application>Microsoft Office PowerPoint</Application>
  <PresentationFormat>On-screen Show (4:3)</PresentationFormat>
  <Paragraphs>99</Paragraphs>
  <Slides>20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Federated Learning</vt:lpstr>
      <vt:lpstr>Topics</vt:lpstr>
      <vt:lpstr>Traditional Machine Learning</vt:lpstr>
      <vt:lpstr>Challenges in Traditional ML</vt:lpstr>
      <vt:lpstr>Emergence of Federated Learning</vt:lpstr>
      <vt:lpstr>Why Federated Learning Matters?</vt:lpstr>
      <vt:lpstr>Traditional ML v/s Federated Learning </vt:lpstr>
      <vt:lpstr>What is Federated Learning?</vt:lpstr>
      <vt:lpstr>How Federated Learning Works?</vt:lpstr>
      <vt:lpstr>How Federated Learning Works?</vt:lpstr>
      <vt:lpstr>How Federated Learning Works?</vt:lpstr>
      <vt:lpstr>Types of Federated Learning</vt:lpstr>
      <vt:lpstr>Types of Federated Learning</vt:lpstr>
      <vt:lpstr>Centralized Federated Learning</vt:lpstr>
      <vt:lpstr>Decentralized Federated Learning</vt:lpstr>
      <vt:lpstr>Heterogeneous Federated Learning</vt:lpstr>
      <vt:lpstr>Types of Federated Learning</vt:lpstr>
      <vt:lpstr>Advantages</vt:lpstr>
      <vt:lpstr>Disadvantages</vt:lpstr>
      <vt:lpstr>Questions?</vt:lpstr>
    </vt:vector>
  </TitlesOfParts>
  <Company>BARC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Convolutional Neural Networks</dc:title>
  <dc:creator>Pritam Prakash Shete</dc:creator>
  <cp:lastModifiedBy>BARC</cp:lastModifiedBy>
  <cp:revision>1250</cp:revision>
  <dcterms:created xsi:type="dcterms:W3CDTF">2019-02-01T20:19:40Z</dcterms:created>
  <dcterms:modified xsi:type="dcterms:W3CDTF">2026-04-15T07:00:15Z</dcterms:modified>
</cp:coreProperties>
</file>