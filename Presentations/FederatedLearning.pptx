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68" r:id="rId3"/>
    <p:sldId id="272" r:id="rId4"/>
    <p:sldId id="278" r:id="rId5"/>
    <p:sldId id="279" r:id="rId6"/>
    <p:sldId id="280" r:id="rId7"/>
    <p:sldId id="281" r:id="rId8"/>
    <p:sldId id="282" r:id="rId9"/>
    <p:sldId id="283" r:id="rId10"/>
    <p:sldId id="276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92" r:id="rId19"/>
    <p:sldId id="293" r:id="rId20"/>
    <p:sldId id="294" r:id="rId21"/>
    <p:sldId id="295" r:id="rId22"/>
    <p:sldId id="296" r:id="rId23"/>
    <p:sldId id="297" r:id="rId24"/>
    <p:sldId id="274" r:id="rId25"/>
    <p:sldId id="291" r:id="rId26"/>
    <p:sldId id="275" r:id="rId27"/>
    <p:sldId id="269" r:id="rId2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BFDCCA-FFB9-49F6-B56E-F6432283D67C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FEC5B1-3194-4B6A-BAEE-39D412112D0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Federated Learning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 fontScale="92500"/>
          </a:bodyPr>
          <a:lstStyle/>
          <a:p>
            <a:r>
              <a:rPr lang="en-US" dirty="0"/>
              <a:t>Pritam Prakash Shete</a:t>
            </a:r>
          </a:p>
          <a:p>
            <a:r>
              <a:rPr lang="en-US" dirty="0"/>
              <a:t>Computer Division, BARC </a:t>
            </a:r>
          </a:p>
          <a:p>
            <a:r>
              <a:rPr lang="en-IN" dirty="0"/>
              <a:t>Centre for Excellence in Basic Sciences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Machine Learning</a:t>
            </a:r>
          </a:p>
          <a:p>
            <a:r>
              <a:rPr lang="en-US" dirty="0"/>
              <a:t>What is Federated Learning?</a:t>
            </a:r>
          </a:p>
          <a:p>
            <a:r>
              <a:rPr lang="en-US" dirty="0"/>
              <a:t>How Federated Learning Works?</a:t>
            </a:r>
          </a:p>
          <a:p>
            <a:r>
              <a:rPr lang="en-US" dirty="0"/>
              <a:t>Types of Federated Learning</a:t>
            </a:r>
          </a:p>
          <a:p>
            <a:r>
              <a:rPr lang="en-US" dirty="0"/>
              <a:t>Application of Federated Learning</a:t>
            </a:r>
          </a:p>
          <a:p>
            <a:r>
              <a:rPr lang="en-US" dirty="0"/>
              <a:t>Advantages of Federated Learning </a:t>
            </a:r>
          </a:p>
          <a:p>
            <a:r>
              <a:rPr lang="en-US" dirty="0"/>
              <a:t>Disadvantages of Federated Learning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Machine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Relies on large datasets stored in centralized locations (data centers)</a:t>
            </a:r>
          </a:p>
          <a:p>
            <a:r>
              <a:rPr lang="en-US" dirty="0"/>
              <a:t>Focuses on achieving accurate predictions and generating insights 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Challenges in Traditional ML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Storage Issues</a:t>
            </a:r>
          </a:p>
          <a:p>
            <a:pPr lvl="1"/>
            <a:r>
              <a:rPr lang="en-US" dirty="0"/>
              <a:t>Handling massive volumes of data is difficult</a:t>
            </a:r>
          </a:p>
          <a:p>
            <a:r>
              <a:rPr lang="en-US" dirty="0"/>
              <a:t>Privacy Concerns</a:t>
            </a:r>
          </a:p>
          <a:p>
            <a:pPr lvl="1"/>
            <a:r>
              <a:rPr lang="en-US" dirty="0"/>
              <a:t>Centralized storage increases risk of data breaches</a:t>
            </a:r>
          </a:p>
          <a:p>
            <a:r>
              <a:rPr lang="en-US" dirty="0"/>
              <a:t>Processing Overhead</a:t>
            </a:r>
          </a:p>
          <a:p>
            <a:pPr lvl="1"/>
            <a:r>
              <a:rPr lang="en-US" dirty="0"/>
              <a:t>High data transfer, computation cost, and latency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4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Emergence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modern approach to machine learning</a:t>
            </a:r>
          </a:p>
          <a:p>
            <a:r>
              <a:rPr lang="en-US" dirty="0"/>
              <a:t>Enables decentralized training across multiple devices</a:t>
            </a:r>
          </a:p>
          <a:p>
            <a:r>
              <a:rPr lang="en-US" dirty="0"/>
              <a:t>Keeps data on local devices instead of sharing it centrally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16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Federated Learning Matters?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Improves data privacy and security</a:t>
            </a:r>
          </a:p>
          <a:p>
            <a:r>
              <a:rPr lang="en-US" dirty="0"/>
              <a:t>Reduces need for large scale data transfer</a:t>
            </a:r>
          </a:p>
          <a:p>
            <a:r>
              <a:rPr lang="en-US" dirty="0"/>
              <a:t>Offers scalable and efficient learning across distributed systems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167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Traditional ML v/s Federated Learning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Traditional Machine Learning faces limitations in privacy, storage, and efficiency</a:t>
            </a:r>
          </a:p>
          <a:p>
            <a:r>
              <a:rPr lang="en-US" dirty="0"/>
              <a:t>Federated Learning provides a powerful and innovative solution</a:t>
            </a:r>
          </a:p>
          <a:p>
            <a:r>
              <a:rPr lang="en-US" dirty="0"/>
              <a:t>Represents a significant shift toward privacy preserving AI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1407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Federated Learning?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Federated Learning is a machine learning technique</a:t>
            </a:r>
          </a:p>
          <a:p>
            <a:r>
              <a:rPr lang="en-US" dirty="0"/>
              <a:t>Trains models on decentralized data</a:t>
            </a:r>
          </a:p>
          <a:p>
            <a:r>
              <a:rPr lang="en-US" dirty="0"/>
              <a:t>Data is distributed across multiple devices or nodes</a:t>
            </a:r>
          </a:p>
          <a:p>
            <a:r>
              <a:rPr lang="en-US" dirty="0"/>
              <a:t>Devices include smartphones, IoT devices, and edge devices</a:t>
            </a:r>
          </a:p>
          <a:p>
            <a:r>
              <a:rPr lang="en-US" dirty="0"/>
              <a:t>Data remains on local devices (not centralized)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93303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Federated Learning Works?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Model is sent to multiple devices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Each device trains the model locally using its own data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Local model updates (not raw data) are generated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Updates are sent to a central server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Server aggregates updates from multiple devices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global model is updated and redistributed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2254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/>
          <p:cNvSpPr txBox="1">
            <a:spLocks noChangeArrowheads="1"/>
          </p:cNvSpPr>
          <p:nvPr/>
        </p:nvSpPr>
        <p:spPr bwMode="auto">
          <a:xfrm rot="10800000" flipV="1">
            <a:off x="0" y="6519446"/>
            <a:ext cx="182880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600" b="1" dirty="0">
                <a:solidFill>
                  <a:srgbClr val="FF0000"/>
                </a:solidFill>
              </a:rPr>
              <a:t>Image </a:t>
            </a:r>
            <a:r>
              <a:rPr lang="en-US" sz="1600" b="1" dirty="0" err="1">
                <a:solidFill>
                  <a:srgbClr val="FF0000"/>
                </a:solidFill>
              </a:rPr>
              <a:t>ack</a:t>
            </a:r>
            <a:r>
              <a:rPr lang="en-US" sz="1600" b="1" dirty="0">
                <a:solidFill>
                  <a:srgbClr val="FF0000"/>
                </a:solidFill>
              </a:rPr>
              <a:t> – Google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0AC75BB-CF7F-F667-BD1E-4CC17BF98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How Federated Learning Works?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AC0114-7596-7D44-400E-94C6D70B70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30370"/>
            <a:ext cx="7467600" cy="487634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Federated Learning Works?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remains on local devices</a:t>
            </a:r>
          </a:p>
          <a:p>
            <a:r>
              <a:rPr lang="en-US" dirty="0"/>
              <a:t>Only model updates are shared</a:t>
            </a:r>
          </a:p>
          <a:p>
            <a:r>
              <a:rPr lang="en-US" dirty="0"/>
              <a:t>Enables collaborative learning without compromising data privacy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267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Federated Learning can be implemented using different strategies</a:t>
            </a:r>
          </a:p>
          <a:p>
            <a:r>
              <a:rPr lang="en-US" dirty="0"/>
              <a:t>These approaches vary based on system architecture and communication style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482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Centralized Federated Learning</a:t>
            </a:r>
          </a:p>
          <a:p>
            <a:r>
              <a:rPr lang="en-US" dirty="0"/>
              <a:t>Decentralized Federated Learning</a:t>
            </a:r>
          </a:p>
          <a:p>
            <a:r>
              <a:rPr lang="en-US" dirty="0"/>
              <a:t>Heterogeneous Federated Learning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3427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Centralized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Uses a central server to manage the training process</a:t>
            </a:r>
          </a:p>
          <a:p>
            <a:r>
              <a:rPr lang="en-US" dirty="0"/>
              <a:t>Server responsibilities:</a:t>
            </a:r>
          </a:p>
          <a:p>
            <a:pPr lvl="1"/>
            <a:r>
              <a:rPr lang="en-US" dirty="0"/>
              <a:t>Select participating devices (nodes)</a:t>
            </a:r>
          </a:p>
          <a:p>
            <a:pPr lvl="1"/>
            <a:r>
              <a:rPr lang="en-US" dirty="0"/>
              <a:t>Aggregate model updates from all devices</a:t>
            </a:r>
          </a:p>
          <a:p>
            <a:pPr lvl="1"/>
            <a:r>
              <a:rPr lang="en-US" dirty="0"/>
              <a:t>All nodes send updates to the central server</a:t>
            </a:r>
          </a:p>
          <a:p>
            <a:r>
              <a:rPr lang="en-US" dirty="0"/>
              <a:t>Limitation:</a:t>
            </a:r>
          </a:p>
          <a:p>
            <a:pPr lvl="1"/>
            <a:r>
              <a:rPr lang="en-US" dirty="0"/>
              <a:t>Can become a bottleneck</a:t>
            </a:r>
          </a:p>
          <a:p>
            <a:pPr lvl="1"/>
            <a:r>
              <a:rPr lang="en-US" dirty="0"/>
              <a:t>Single point of failure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17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Decentralized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central server involved</a:t>
            </a:r>
          </a:p>
          <a:p>
            <a:r>
              <a:rPr lang="en-US" dirty="0"/>
              <a:t>Devices (nodes) communicate and share updates among themselves</a:t>
            </a:r>
          </a:p>
          <a:p>
            <a:r>
              <a:rPr lang="en-US" dirty="0"/>
              <a:t>Eliminates single point of failure</a:t>
            </a:r>
          </a:p>
          <a:p>
            <a:r>
              <a:rPr lang="en-US" dirty="0"/>
              <a:t>Reduces bottleneck issues</a:t>
            </a:r>
          </a:p>
          <a:p>
            <a:r>
              <a:rPr lang="en-US" dirty="0"/>
              <a:t>Key consideration:</a:t>
            </a:r>
          </a:p>
          <a:p>
            <a:pPr lvl="1"/>
            <a:r>
              <a:rPr lang="en-US" dirty="0"/>
              <a:t>Performance depends on network topology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566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Heterogeneous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Involves diverse clients such as:</a:t>
            </a:r>
          </a:p>
          <a:p>
            <a:pPr lvl="1"/>
            <a:r>
              <a:rPr lang="en-US" dirty="0"/>
              <a:t>Smartphones</a:t>
            </a:r>
          </a:p>
          <a:p>
            <a:pPr lvl="1"/>
            <a:r>
              <a:rPr lang="en-US" dirty="0"/>
              <a:t>IoT devices</a:t>
            </a:r>
          </a:p>
          <a:p>
            <a:r>
              <a:rPr lang="en-US" dirty="0"/>
              <a:t>Devices differ in hardware and software capabilities</a:t>
            </a:r>
          </a:p>
          <a:p>
            <a:r>
              <a:rPr lang="en-US" dirty="0"/>
              <a:t>Challenges:</a:t>
            </a:r>
          </a:p>
          <a:p>
            <a:pPr lvl="1"/>
            <a:r>
              <a:rPr lang="en-US" dirty="0"/>
              <a:t>Varying computation power</a:t>
            </a:r>
          </a:p>
          <a:p>
            <a:pPr lvl="1"/>
            <a:r>
              <a:rPr lang="en-US" dirty="0"/>
              <a:t>Communication constraints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75378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Federated Learning types address different system challenges</a:t>
            </a:r>
          </a:p>
          <a:p>
            <a:r>
              <a:rPr lang="en-US" dirty="0"/>
              <a:t>Centralized Federated Learning</a:t>
            </a:r>
          </a:p>
          <a:p>
            <a:pPr lvl="1"/>
            <a:r>
              <a:rPr lang="en-US" dirty="0"/>
              <a:t>Simpler but prone to bottlenecks</a:t>
            </a:r>
          </a:p>
          <a:p>
            <a:r>
              <a:rPr lang="en-US" dirty="0"/>
              <a:t>Decentralized Federated Learning</a:t>
            </a:r>
          </a:p>
          <a:p>
            <a:pPr lvl="1"/>
            <a:r>
              <a:rPr lang="en-US" dirty="0"/>
              <a:t>More robust but complex</a:t>
            </a:r>
          </a:p>
          <a:p>
            <a:r>
              <a:rPr lang="en-US" dirty="0"/>
              <a:t>Heterogeneous Federated Learning</a:t>
            </a:r>
          </a:p>
          <a:p>
            <a:pPr lvl="1"/>
            <a:r>
              <a:rPr lang="en-US" dirty="0"/>
              <a:t>Realistic but requires adaptive methods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448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Application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Google Keyboard (</a:t>
            </a:r>
            <a:r>
              <a:rPr lang="en-US" dirty="0" err="1"/>
              <a:t>Gboard</a:t>
            </a:r>
            <a:r>
              <a:rPr lang="en-US" dirty="0"/>
              <a:t>)</a:t>
            </a:r>
          </a:p>
          <a:p>
            <a:r>
              <a:rPr lang="en-US" dirty="0"/>
              <a:t>Federated Learning is widely used in Google Keyboard (</a:t>
            </a:r>
            <a:r>
              <a:rPr lang="en-US" dirty="0" err="1"/>
              <a:t>Gboard</a:t>
            </a:r>
            <a:r>
              <a:rPr lang="en-US" dirty="0"/>
              <a:t>)</a:t>
            </a:r>
          </a:p>
          <a:p>
            <a:r>
              <a:rPr lang="en-US" dirty="0"/>
              <a:t>Enhances typing suggestions and predictions</a:t>
            </a:r>
          </a:p>
          <a:p>
            <a:r>
              <a:rPr lang="en-US" dirty="0"/>
              <a:t>Learns from user behavior while preserving privacy</a:t>
            </a:r>
          </a:p>
        </p:txBody>
      </p:sp>
    </p:spTree>
    <p:extLst>
      <p:ext uri="{BB962C8B-B14F-4D97-AF65-F5344CB8AC3E}">
        <p14:creationId xmlns:p14="http://schemas.microsoft.com/office/powerpoint/2010/main" val="27090918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Gboard</a:t>
            </a:r>
            <a:r>
              <a:rPr lang="en-US" dirty="0"/>
              <a:t> – Data Collection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Gboard</a:t>
            </a:r>
            <a:r>
              <a:rPr lang="en-US" dirty="0"/>
              <a:t> collects user data </a:t>
            </a:r>
          </a:p>
          <a:p>
            <a:pPr lvl="1"/>
            <a:r>
              <a:rPr lang="en-US" dirty="0"/>
              <a:t>Search history</a:t>
            </a:r>
          </a:p>
          <a:p>
            <a:pPr lvl="1"/>
            <a:r>
              <a:rPr lang="en-US" dirty="0"/>
              <a:t>Typing patterns</a:t>
            </a:r>
          </a:p>
          <a:p>
            <a:r>
              <a:rPr lang="en-US" dirty="0"/>
              <a:t>Data remains stored on the user’s device</a:t>
            </a:r>
          </a:p>
        </p:txBody>
      </p:sp>
    </p:spTree>
    <p:extLst>
      <p:ext uri="{BB962C8B-B14F-4D97-AF65-F5344CB8AC3E}">
        <p14:creationId xmlns:p14="http://schemas.microsoft.com/office/powerpoint/2010/main" val="12031709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Gboard</a:t>
            </a:r>
            <a:r>
              <a:rPr lang="en-US" dirty="0"/>
              <a:t> – Model Training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is trained locally using the local data</a:t>
            </a:r>
          </a:p>
          <a:p>
            <a:r>
              <a:rPr lang="en-US" dirty="0"/>
              <a:t>No raw data is sent to a central server</a:t>
            </a:r>
          </a:p>
        </p:txBody>
      </p:sp>
    </p:spTree>
    <p:extLst>
      <p:ext uri="{BB962C8B-B14F-4D97-AF65-F5344CB8AC3E}">
        <p14:creationId xmlns:p14="http://schemas.microsoft.com/office/powerpoint/2010/main" val="32990927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Gboard</a:t>
            </a:r>
            <a:r>
              <a:rPr lang="en-US" dirty="0"/>
              <a:t> – Model Updates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Local model updates are generated on the device</a:t>
            </a:r>
          </a:p>
          <a:p>
            <a:r>
              <a:rPr lang="en-US" dirty="0"/>
              <a:t>Updates are encrypted and sent to a central server</a:t>
            </a:r>
          </a:p>
          <a:p>
            <a:r>
              <a:rPr lang="en-US" dirty="0"/>
              <a:t>Server aggregates updates from multiple users</a:t>
            </a:r>
          </a:p>
          <a:p>
            <a:r>
              <a:rPr lang="en-US" dirty="0"/>
              <a:t>Builds an improved global model</a:t>
            </a:r>
          </a:p>
        </p:txBody>
      </p:sp>
    </p:spTree>
    <p:extLst>
      <p:ext uri="{BB962C8B-B14F-4D97-AF65-F5344CB8AC3E}">
        <p14:creationId xmlns:p14="http://schemas.microsoft.com/office/powerpoint/2010/main" val="14074126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Gboard</a:t>
            </a:r>
            <a:r>
              <a:rPr lang="en-US" dirty="0"/>
              <a:t> – Improved User Experience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continuously improves with more updates</a:t>
            </a:r>
          </a:p>
          <a:p>
            <a:r>
              <a:rPr lang="en-US" dirty="0"/>
              <a:t>Provides better typing predictions</a:t>
            </a:r>
          </a:p>
          <a:p>
            <a:r>
              <a:rPr lang="en-US" dirty="0"/>
              <a:t>Suggests more accurate words and phrases</a:t>
            </a:r>
          </a:p>
          <a:p>
            <a:r>
              <a:rPr lang="en-US" dirty="0"/>
              <a:t>Adapts to individual user behavior</a:t>
            </a:r>
          </a:p>
        </p:txBody>
      </p:sp>
    </p:spTree>
    <p:extLst>
      <p:ext uri="{BB962C8B-B14F-4D97-AF65-F5344CB8AC3E}">
        <p14:creationId xmlns:p14="http://schemas.microsoft.com/office/powerpoint/2010/main" val="39725740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Gboard</a:t>
            </a:r>
            <a:r>
              <a:rPr lang="en-US" dirty="0"/>
              <a:t> – Privacy and Efficiency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Personal data never leaves the device</a:t>
            </a:r>
          </a:p>
          <a:p>
            <a:r>
              <a:rPr lang="en-US" dirty="0"/>
              <a:t>Only model updates are shared</a:t>
            </a:r>
          </a:p>
          <a:p>
            <a:r>
              <a:rPr lang="en-US" dirty="0"/>
              <a:t>Reduces bandwidth usage</a:t>
            </a:r>
          </a:p>
          <a:p>
            <a:r>
              <a:rPr lang="en-US" dirty="0"/>
              <a:t>Ensures efficient and scalable learning</a:t>
            </a:r>
          </a:p>
        </p:txBody>
      </p:sp>
    </p:spTree>
    <p:extLst>
      <p:ext uri="{BB962C8B-B14F-4D97-AF65-F5344CB8AC3E}">
        <p14:creationId xmlns:p14="http://schemas.microsoft.com/office/powerpoint/2010/main" val="591355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Advantages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Reduced Power Usage</a:t>
            </a:r>
          </a:p>
          <a:p>
            <a:pPr lvl="1"/>
            <a:r>
              <a:rPr lang="en-US" dirty="0"/>
              <a:t>Reduced data size means reduced computation time and hence less power usage.</a:t>
            </a:r>
          </a:p>
          <a:p>
            <a:r>
              <a:rPr lang="en-US" dirty="0"/>
              <a:t>Guarantees Privacy</a:t>
            </a:r>
          </a:p>
          <a:p>
            <a:pPr lvl="1"/>
            <a:r>
              <a:rPr lang="en-US" dirty="0"/>
              <a:t>Data stays on the device, maintaining privacy without loss of training.</a:t>
            </a:r>
          </a:p>
          <a:p>
            <a:r>
              <a:rPr lang="en-US" dirty="0"/>
              <a:t>No Device Performance Impact</a:t>
            </a:r>
          </a:p>
          <a:p>
            <a:pPr lvl="1"/>
            <a:r>
              <a:rPr lang="en-US" dirty="0"/>
              <a:t>Training is done only when the device is in idle or charging state, hence no impact on performance.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Advantages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  <a:p>
            <a:pPr lvl="1"/>
            <a:r>
              <a:rPr lang="en-US" dirty="0"/>
              <a:t>Scales with big, distributed datasets across multiple devices.</a:t>
            </a:r>
          </a:p>
          <a:p>
            <a:r>
              <a:rPr lang="en-US" dirty="0"/>
              <a:t>Better Model Performance</a:t>
            </a:r>
          </a:p>
          <a:p>
            <a:pPr lvl="1"/>
            <a:r>
              <a:rPr lang="en-US" dirty="0"/>
              <a:t>Uses heterogeneous data from various devices to improve model accuracy.</a:t>
            </a:r>
          </a:p>
          <a:p>
            <a:r>
              <a:rPr lang="en-US" dirty="0"/>
              <a:t>Real-time Updates</a:t>
            </a:r>
          </a:p>
          <a:p>
            <a:pPr lvl="1"/>
            <a:r>
              <a:rPr lang="en-US" dirty="0"/>
              <a:t>Allows real-time model updates on each device.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5563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Disadvantages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Network Latency</a:t>
            </a:r>
          </a:p>
          <a:p>
            <a:pPr lvl="1"/>
            <a:r>
              <a:rPr lang="en-US" dirty="0"/>
              <a:t>The communication between the devices and the central server can be a bottleneck and may add latency to the training process.</a:t>
            </a:r>
          </a:p>
          <a:p>
            <a:r>
              <a:rPr lang="en-US" dirty="0"/>
              <a:t>Heterogeneous devices</a:t>
            </a:r>
          </a:p>
          <a:p>
            <a:pPr lvl="1"/>
            <a:r>
              <a:rPr lang="en-US" dirty="0"/>
              <a:t>The devices can be heterogeneous in terms of hardware and software, which can make it difficult to ensure the compatibility and consistency of the models.</a:t>
            </a:r>
          </a:p>
          <a:p>
            <a:r>
              <a:rPr lang="en-US" dirty="0"/>
              <a:t>Data Quality</a:t>
            </a:r>
          </a:p>
          <a:p>
            <a:pPr lvl="1"/>
            <a:r>
              <a:rPr lang="en-US" dirty="0"/>
              <a:t>The quality of data can vary across the devices, which can lead to poor model performance.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2156</TotalTime>
  <Words>821</Words>
  <Application>Microsoft Office PowerPoint</Application>
  <PresentationFormat>On-screen Show (4:3)</PresentationFormat>
  <Paragraphs>145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Federated Learning</vt:lpstr>
      <vt:lpstr>Topics</vt:lpstr>
      <vt:lpstr>Traditional Machine Learning</vt:lpstr>
      <vt:lpstr>Challenges in Traditional ML</vt:lpstr>
      <vt:lpstr>Emergence of Federated Learning</vt:lpstr>
      <vt:lpstr>Why Federated Learning Matters?</vt:lpstr>
      <vt:lpstr>Traditional ML v/s Federated Learning </vt:lpstr>
      <vt:lpstr>What is Federated Learning?</vt:lpstr>
      <vt:lpstr>How Federated Learning Works?</vt:lpstr>
      <vt:lpstr>How Federated Learning Works?</vt:lpstr>
      <vt:lpstr>How Federated Learning Works?</vt:lpstr>
      <vt:lpstr>Types of Federated Learning</vt:lpstr>
      <vt:lpstr>Types of Federated Learning</vt:lpstr>
      <vt:lpstr>Centralized Federated Learning</vt:lpstr>
      <vt:lpstr>Decentralized Federated Learning</vt:lpstr>
      <vt:lpstr>Heterogeneous Federated Learning</vt:lpstr>
      <vt:lpstr>Types of Federated Learning</vt:lpstr>
      <vt:lpstr>Application of Federated Learning</vt:lpstr>
      <vt:lpstr>Gboard – Data Collection</vt:lpstr>
      <vt:lpstr>Gboard – Model Training</vt:lpstr>
      <vt:lpstr>Gboard – Model Updates</vt:lpstr>
      <vt:lpstr>Gboard – Improved User Experience</vt:lpstr>
      <vt:lpstr>Gboard – Privacy and Efficiency</vt:lpstr>
      <vt:lpstr>Advantages of Federated Learning</vt:lpstr>
      <vt:lpstr>Advantages of Federated Learning</vt:lpstr>
      <vt:lpstr>Disadvantages of Federated Learning</vt:lpstr>
      <vt:lpstr>Questions?</vt:lpstr>
    </vt:vector>
  </TitlesOfParts>
  <Company>BARC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Convolutional Neural Networks</dc:title>
  <dc:creator>Pritam Prakash Shete</dc:creator>
  <cp:lastModifiedBy>BARC</cp:lastModifiedBy>
  <cp:revision>1303</cp:revision>
  <dcterms:created xsi:type="dcterms:W3CDTF">2019-02-01T20:19:40Z</dcterms:created>
  <dcterms:modified xsi:type="dcterms:W3CDTF">2026-04-15T09:01:33Z</dcterms:modified>
</cp:coreProperties>
</file>