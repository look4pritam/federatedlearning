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8" r:id="rId3"/>
    <p:sldId id="272" r:id="rId4"/>
    <p:sldId id="278" r:id="rId5"/>
    <p:sldId id="279" r:id="rId6"/>
    <p:sldId id="280" r:id="rId7"/>
    <p:sldId id="281" r:id="rId8"/>
    <p:sldId id="277" r:id="rId9"/>
    <p:sldId id="276" r:id="rId10"/>
    <p:sldId id="274" r:id="rId11"/>
    <p:sldId id="275" r:id="rId12"/>
    <p:sldId id="269" r:id="rId1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FDCCA-FFB9-49F6-B56E-F6432283D67C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EC5B1-3194-4B6A-BAEE-39D412112D0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Federated Learning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/>
              <a:t>Pritam Prakash Shete</a:t>
            </a:r>
          </a:p>
          <a:p>
            <a:r>
              <a:rPr lang="en-US" dirty="0"/>
              <a:t>Computer Division, BARC </a:t>
            </a:r>
          </a:p>
          <a:p>
            <a:r>
              <a:rPr lang="en-IN" dirty="0"/>
              <a:t>Centre for Excellence in Basic Sciences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Machine Learning</a:t>
            </a:r>
          </a:p>
          <a:p>
            <a:r>
              <a:rPr lang="en-US" dirty="0"/>
              <a:t>Federated Learning</a:t>
            </a:r>
          </a:p>
          <a:p>
            <a:r>
              <a:rPr lang="en-US" dirty="0"/>
              <a:t>Advantages </a:t>
            </a:r>
          </a:p>
          <a:p>
            <a:r>
              <a:rPr lang="en-US" dirty="0"/>
              <a:t>Disadvantages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Machine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Relies on large datasets stored in centralized locations (data centers)</a:t>
            </a:r>
          </a:p>
          <a:p>
            <a:r>
              <a:rPr lang="en-US" dirty="0"/>
              <a:t>Focuses on achieving accurate predictions and generating insights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Challenges in Traditional ML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Storage Issues</a:t>
            </a:r>
          </a:p>
          <a:p>
            <a:pPr lvl="1"/>
            <a:r>
              <a:rPr lang="en-US" dirty="0"/>
              <a:t>Handling massive volumes of data is difficult</a:t>
            </a:r>
          </a:p>
          <a:p>
            <a:r>
              <a:rPr lang="en-US" dirty="0"/>
              <a:t>Privacy Concerns</a:t>
            </a:r>
          </a:p>
          <a:p>
            <a:pPr lvl="1"/>
            <a:r>
              <a:rPr lang="en-US" dirty="0"/>
              <a:t>Centralized storage increases risk of data breaches</a:t>
            </a:r>
          </a:p>
          <a:p>
            <a:r>
              <a:rPr lang="en-US" dirty="0"/>
              <a:t>Processing Overhead</a:t>
            </a:r>
          </a:p>
          <a:p>
            <a:pPr lvl="1"/>
            <a:r>
              <a:rPr lang="en-US" dirty="0"/>
              <a:t>High data transfer, computation cost, and latency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4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Emergence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modern approach to machine learning</a:t>
            </a:r>
          </a:p>
          <a:p>
            <a:r>
              <a:rPr lang="en-US" dirty="0"/>
              <a:t>Enables decentralized training across multiple devices</a:t>
            </a:r>
          </a:p>
          <a:p>
            <a:r>
              <a:rPr lang="en-US" dirty="0"/>
              <a:t>Keeps data on local devices instead of sharing it centrally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6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Federated Learning Matters?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Improves data privacy and security</a:t>
            </a:r>
          </a:p>
          <a:p>
            <a:r>
              <a:rPr lang="en-US" dirty="0"/>
              <a:t>Reduces need for large scale data transfer</a:t>
            </a:r>
          </a:p>
          <a:p>
            <a:r>
              <a:rPr lang="en-US" dirty="0"/>
              <a:t>Offers scalable and efficient learning across distributed systems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167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Takeaway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Traditional Machine Learning faces limitations in privacy, storage, and efficiency</a:t>
            </a:r>
          </a:p>
          <a:p>
            <a:r>
              <a:rPr lang="en-US" dirty="0"/>
              <a:t>Federated Learning provides a powerful and innovative solution</a:t>
            </a:r>
          </a:p>
          <a:p>
            <a:r>
              <a:rPr lang="en-US" dirty="0"/>
              <a:t>Represents a significant shift toward privacy preserving AI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407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Create bootstrapped dataset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Select </a:t>
            </a:r>
            <a:r>
              <a:rPr lang="en-IN"/>
              <a:t>subset of features</a:t>
            </a:r>
            <a:endParaRPr lang="en-IN" dirty="0"/>
          </a:p>
          <a:p>
            <a:pPr marL="914400" lvl="1" indent="-514350"/>
            <a:r>
              <a:rPr lang="en-IN" dirty="0"/>
              <a:t>Bagging approach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Create decision tree using selected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Repeat Steps 1 to 3</a:t>
            </a:r>
          </a:p>
          <a:p>
            <a:pPr marL="914400" lvl="1" indent="-514350"/>
            <a:r>
              <a:rPr lang="en-US" dirty="0"/>
              <a:t>Number of </a:t>
            </a:r>
            <a:r>
              <a:rPr lang="en-IN" dirty="0"/>
              <a:t>decision tree</a:t>
            </a:r>
            <a:r>
              <a:rPr lang="en-US" dirty="0"/>
              <a:t>s</a:t>
            </a:r>
          </a:p>
          <a:p>
            <a:pPr marL="514350" indent="-514350">
              <a:buNone/>
            </a:pPr>
            <a:endParaRPr lang="en-IN" dirty="0"/>
          </a:p>
          <a:p>
            <a:pPr marL="914400" lvl="1" indent="-514350"/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</a:t>
            </a:r>
          </a:p>
        </p:txBody>
      </p:sp>
      <p:pic>
        <p:nvPicPr>
          <p:cNvPr id="6" name="Picture 5" descr="Random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1828800"/>
            <a:ext cx="5715000" cy="3810000"/>
          </a:xfrm>
          <a:prstGeom prst="rect">
            <a:avLst/>
          </a:prstGeom>
        </p:spPr>
      </p:pic>
      <p:sp>
        <p:nvSpPr>
          <p:cNvPr id="7" name="Text Box 10"/>
          <p:cNvSpPr txBox="1">
            <a:spLocks noChangeArrowheads="1"/>
          </p:cNvSpPr>
          <p:nvPr/>
        </p:nvSpPr>
        <p:spPr bwMode="auto">
          <a:xfrm rot="10800000" flipV="1">
            <a:off x="0" y="6519446"/>
            <a:ext cx="182880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600" b="1" dirty="0">
                <a:solidFill>
                  <a:srgbClr val="FF0000"/>
                </a:solidFill>
              </a:rPr>
              <a:t>Image </a:t>
            </a:r>
            <a:r>
              <a:rPr lang="en-US" sz="1600" b="1" dirty="0" err="1">
                <a:solidFill>
                  <a:srgbClr val="FF0000"/>
                </a:solidFill>
              </a:rPr>
              <a:t>ack</a:t>
            </a:r>
            <a:r>
              <a:rPr lang="en-US" sz="1600" b="1" dirty="0">
                <a:solidFill>
                  <a:srgbClr val="FF0000"/>
                </a:solidFill>
              </a:rPr>
              <a:t> – Google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Less over-fitting by using multiple trees</a:t>
            </a:r>
          </a:p>
          <a:p>
            <a:r>
              <a:rPr lang="en-IN" dirty="0"/>
              <a:t>More accurate as compared to single tree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Computationally expensive</a:t>
            </a:r>
          </a:p>
          <a:p>
            <a:r>
              <a:rPr lang="en-IN" dirty="0"/>
              <a:t>Less interpretable than decision tree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2021</TotalTime>
  <Words>221</Words>
  <Application>Microsoft Office PowerPoint</Application>
  <PresentationFormat>On-screen Show (4:3)</PresentationFormat>
  <Paragraphs>49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Federated Learning</vt:lpstr>
      <vt:lpstr>Topics</vt:lpstr>
      <vt:lpstr>Traditional Machine Learning</vt:lpstr>
      <vt:lpstr>Challenges in Traditional ML</vt:lpstr>
      <vt:lpstr>Emergence of Federated Learning</vt:lpstr>
      <vt:lpstr>Why Federated Learning Matters?</vt:lpstr>
      <vt:lpstr>Key Takeaway</vt:lpstr>
      <vt:lpstr>Random Forest Algorithm</vt:lpstr>
      <vt:lpstr>Random Forest</vt:lpstr>
      <vt:lpstr>Advantages</vt:lpstr>
      <vt:lpstr>Disadvantages</vt:lpstr>
      <vt:lpstr>Questions?</vt:lpstr>
    </vt:vector>
  </TitlesOfParts>
  <Company>BARC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Convolutional Neural Networks</dc:title>
  <dc:creator>Pritam Prakash Shete</dc:creator>
  <cp:lastModifiedBy>BARC</cp:lastModifiedBy>
  <cp:revision>1204</cp:revision>
  <dcterms:created xsi:type="dcterms:W3CDTF">2019-02-01T20:19:40Z</dcterms:created>
  <dcterms:modified xsi:type="dcterms:W3CDTF">2026-04-15T04:57:14Z</dcterms:modified>
</cp:coreProperties>
</file>